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7.jpg" ContentType="image/jpeg"/>
  <Override PartName="/ppt/notesSlides/notesSlide4.xml" ContentType="application/vnd.openxmlformats-officedocument.presentationml.notesSlide+xml"/>
  <Override PartName="/ppt/media/image10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97" r:id="rId2"/>
    <p:sldId id="259" r:id="rId3"/>
    <p:sldId id="299" r:id="rId4"/>
    <p:sldId id="300" r:id="rId5"/>
    <p:sldId id="301" r:id="rId6"/>
    <p:sldId id="334" r:id="rId7"/>
    <p:sldId id="264" r:id="rId8"/>
    <p:sldId id="322" r:id="rId9"/>
    <p:sldId id="302" r:id="rId10"/>
    <p:sldId id="303" r:id="rId11"/>
    <p:sldId id="304" r:id="rId12"/>
    <p:sldId id="333" r:id="rId13"/>
    <p:sldId id="329" r:id="rId14"/>
    <p:sldId id="331" r:id="rId15"/>
    <p:sldId id="305" r:id="rId16"/>
    <p:sldId id="306" r:id="rId17"/>
    <p:sldId id="317" r:id="rId18"/>
    <p:sldId id="323" r:id="rId19"/>
    <p:sldId id="324" r:id="rId20"/>
    <p:sldId id="325" r:id="rId21"/>
    <p:sldId id="327" r:id="rId22"/>
    <p:sldId id="328" r:id="rId23"/>
    <p:sldId id="330" r:id="rId24"/>
    <p:sldId id="296" r:id="rId25"/>
  </p:sldIdLst>
  <p:sldSz cx="12192000" cy="6858000"/>
  <p:notesSz cx="6858000" cy="9144000"/>
  <p:embeddedFontLst>
    <p:embeddedFont>
      <p:font typeface="Georgia" panose="02040502050405020303" pitchFamily="18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70">
          <p15:clr>
            <a:srgbClr val="9AA0A6"/>
          </p15:clr>
        </p15:guide>
        <p15:guide id="2" pos="5868">
          <p15:clr>
            <a:srgbClr val="9AA0A6"/>
          </p15:clr>
        </p15:guide>
        <p15:guide id="3" orient="horz" pos="157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6" roundtripDataSignature="AMtx7mgzPzfW/Eqj5INjXEMP3JF+w7YJ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2D7396-3E8A-4C48-A43C-EBEA59809495}">
  <a:tblStyle styleId="{2C2D7396-3E8A-4C48-A43C-EBEA598094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825" autoAdjust="0"/>
  </p:normalViewPr>
  <p:slideViewPr>
    <p:cSldViewPr snapToGrid="0">
      <p:cViewPr varScale="1">
        <p:scale>
          <a:sx n="67" d="100"/>
          <a:sy n="67" d="100"/>
        </p:scale>
        <p:origin x="834" y="48"/>
      </p:cViewPr>
      <p:guideLst>
        <p:guide orient="horz" pos="1570"/>
        <p:guide pos="5868"/>
        <p:guide orient="horz" pos="15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56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174" name="Google Shape;17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7664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7" name="Google Shape;48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4"/>
          <p:cNvSpPr txBox="1">
            <a:spLocks noGrp="1"/>
          </p:cNvSpPr>
          <p:nvPr>
            <p:ph type="body" idx="1"/>
          </p:nvPr>
        </p:nvSpPr>
        <p:spPr>
          <a:xfrm>
            <a:off x="5183188" y="98743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0" name="Google Shape;70;p44"/>
          <p:cNvSpPr txBox="1">
            <a:spLocks noGrp="1"/>
          </p:cNvSpPr>
          <p:nvPr>
            <p:ph type="body" idx="2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9pPr>
          </a:lstStyle>
          <a:p>
            <a:endParaRPr/>
          </a:p>
        </p:txBody>
      </p:sp>
      <p:sp>
        <p:nvSpPr>
          <p:cNvPr id="71" name="Google Shape;71;p4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5"/>
          <p:cNvSpPr>
            <a:spLocks noGrp="1"/>
          </p:cNvSpPr>
          <p:nvPr>
            <p:ph type="pic" idx="2"/>
          </p:nvPr>
        </p:nvSpPr>
        <p:spPr>
          <a:xfrm>
            <a:off x="5183188" y="98743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45"/>
          <p:cNvSpPr txBox="1">
            <a:spLocks noGrp="1"/>
          </p:cNvSpPr>
          <p:nvPr>
            <p:ph type="body" idx="1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9pPr>
          </a:lstStyle>
          <a:p>
            <a:endParaRPr/>
          </a:p>
        </p:txBody>
      </p:sp>
      <p:sp>
        <p:nvSpPr>
          <p:cNvPr id="78" name="Google Shape;78;p4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6"/>
          <p:cNvSpPr txBox="1">
            <a:spLocks noGrp="1"/>
          </p:cNvSpPr>
          <p:nvPr>
            <p:ph type="body" idx="1"/>
          </p:nvPr>
        </p:nvSpPr>
        <p:spPr>
          <a:xfrm rot="5400000">
            <a:off x="3920333" y="-1256507"/>
            <a:ext cx="435133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4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7"/>
          <p:cNvSpPr txBox="1">
            <a:spLocks noGrp="1"/>
          </p:cNvSpPr>
          <p:nvPr>
            <p:ph type="title"/>
          </p:nvPr>
        </p:nvSpPr>
        <p:spPr>
          <a:xfrm rot="5400000">
            <a:off x="7133442" y="1956595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7"/>
          <p:cNvSpPr txBox="1">
            <a:spLocks noGrp="1"/>
          </p:cNvSpPr>
          <p:nvPr>
            <p:ph type="body" idx="1"/>
          </p:nvPr>
        </p:nvSpPr>
        <p:spPr>
          <a:xfrm rot="5400000">
            <a:off x="1799442" y="-596106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4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1"/>
          <p:cNvSpPr/>
          <p:nvPr/>
        </p:nvSpPr>
        <p:spPr>
          <a:xfrm>
            <a:off x="0" y="13"/>
            <a:ext cx="12192000" cy="819151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61"/>
          <p:cNvSpPr txBox="1">
            <a:spLocks noGrp="1"/>
          </p:cNvSpPr>
          <p:nvPr>
            <p:ph type="title"/>
          </p:nvPr>
        </p:nvSpPr>
        <p:spPr>
          <a:xfrm>
            <a:off x="228600" y="184714"/>
            <a:ext cx="10515600" cy="52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1"/>
          <p:cNvSpPr txBox="1">
            <a:spLocks noGrp="1"/>
          </p:cNvSpPr>
          <p:nvPr>
            <p:ph type="sldNum" idx="12"/>
          </p:nvPr>
        </p:nvSpPr>
        <p:spPr>
          <a:xfrm>
            <a:off x="11639552" y="6350000"/>
            <a:ext cx="39052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" name="Google Shape;19;p61"/>
          <p:cNvCxnSpPr/>
          <p:nvPr/>
        </p:nvCxnSpPr>
        <p:spPr>
          <a:xfrm>
            <a:off x="13" y="6457951"/>
            <a:ext cx="96084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89834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/>
          <p:nvPr/>
        </p:nvSpPr>
        <p:spPr>
          <a:xfrm>
            <a:off x="0" y="11"/>
            <a:ext cx="12192000" cy="819151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228600" y="187009"/>
            <a:ext cx="10515600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8" name="Google Shape;48;p37"/>
          <p:cNvCxnSpPr/>
          <p:nvPr/>
        </p:nvCxnSpPr>
        <p:spPr>
          <a:xfrm>
            <a:off x="12" y="6457951"/>
            <a:ext cx="96084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919060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-a-ashwini-45a9221b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8;p2"/>
          <p:cNvSpPr txBox="1"/>
          <p:nvPr/>
        </p:nvSpPr>
        <p:spPr>
          <a:xfrm>
            <a:off x="-1" y="701742"/>
            <a:ext cx="12191999" cy="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Google Shape;9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086508" y="11637873"/>
            <a:ext cx="158226" cy="16370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4" descr="DALL·E 2024-11-21 08.42.52 - A futuristic and visually appealing train designed for technology projects, with a sleek and modern design, surrounded by a professional and clean bac.webp">
            <a:extLst>
              <a:ext uri="{FF2B5EF4-FFF2-40B4-BE49-F238E27FC236}">
                <a16:creationId xmlns:a16="http://schemas.microsoft.com/office/drawing/2014/main" id="{9A5763A6-5270-B507-E200-86C83BFA5A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00414" y="1480008"/>
            <a:ext cx="5077932" cy="5111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9A03BA-E97A-438D-F9CD-176D5237A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315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>
            <a:spLocks noGrp="1"/>
          </p:cNvSpPr>
          <p:nvPr>
            <p:ph type="title"/>
          </p:nvPr>
        </p:nvSpPr>
        <p:spPr>
          <a:xfrm>
            <a:off x="260685" y="177860"/>
            <a:ext cx="105156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675" rIns="91425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260685" y="4088127"/>
            <a:ext cx="3982702" cy="96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</a:rPr>
              <a:t>           </a:t>
            </a:r>
            <a:r>
              <a:rPr lang="en-US" sz="1200" b="1" dirty="0" err="1">
                <a:solidFill>
                  <a:schemeClr val="dk1"/>
                </a:solidFill>
              </a:rPr>
              <a:t>N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ame:Kunal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Borase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sng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  https://www.linkedin.com/in/kunal-borase-9258b21a1/overlay/photo/</a:t>
            </a:r>
            <a:br>
              <a:rPr lang="en-U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2144809" y="2046824"/>
            <a:ext cx="1728019" cy="7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7428541" y="4083590"/>
            <a:ext cx="3178500" cy="96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chemeClr val="dk1"/>
                </a:solidFill>
              </a:rPr>
              <a:t>N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ame:</a:t>
            </a:r>
            <a:r>
              <a:rPr lang="en-US" sz="1200" b="1" dirty="0" err="1">
                <a:solidFill>
                  <a:schemeClr val="dk1"/>
                </a:solidFill>
              </a:rPr>
              <a:t>Mandeep</a:t>
            </a:r>
            <a:r>
              <a:rPr lang="en-US" sz="1200" b="1" dirty="0">
                <a:solidFill>
                  <a:schemeClr val="dk1"/>
                </a:solidFill>
              </a:rPr>
              <a:t> Singh Thakur</a:t>
            </a:r>
            <a:r>
              <a:rPr lang="en-US" sz="1200" b="1" i="0" u="sng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https://www.linkedin.com/in/kunal-borase-9258b21a1/overlay/photo/</a:t>
            </a:r>
            <a:br>
              <a:rPr lang="en-U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361407" y="5390605"/>
            <a:ext cx="24558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sng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8138162" y="5248612"/>
            <a:ext cx="2455816" cy="107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sng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8151225" y="5300864"/>
            <a:ext cx="2455816" cy="107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sng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8216538" y="5198931"/>
            <a:ext cx="24558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B71D1C-0D4D-833A-4C02-C455D7CA9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8168" y="5874729"/>
            <a:ext cx="2416233" cy="8054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C95E68-B7F0-D4B1-1DF5-047934BF3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1172782"/>
            <a:ext cx="2707822" cy="25822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348947-3DC9-ADAF-AB11-6D7EF83426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540" y="1121673"/>
            <a:ext cx="2618651" cy="26845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248F65-BC28-655E-3F9F-489945C586A4}"/>
              </a:ext>
            </a:extLst>
          </p:cNvPr>
          <p:cNvSpPr txBox="1"/>
          <p:nvPr/>
        </p:nvSpPr>
        <p:spPr>
          <a:xfrm>
            <a:off x="0" y="1206967"/>
            <a:ext cx="12191999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ctr" rtl="0">
              <a:buFont typeface="Wingdings" panose="05000000000000000000" pitchFamily="2" charset="2"/>
              <a:buChar char="q"/>
            </a:pPr>
            <a:r>
              <a:rPr lang="en-US" sz="4400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CONTENTS</a:t>
            </a:r>
          </a:p>
          <a:p>
            <a:pPr marL="880110" indent="-457200"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Arial" panose="020B0604020202020204" pitchFamily="34" charset="0"/>
              </a:rPr>
              <a:t> BUSINESS OBJECTIVE</a:t>
            </a:r>
            <a:endParaRPr lang="en-US" sz="2800" b="0" i="0" u="none" strike="noStrike" dirty="0"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880110" indent="-457200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BUSINESS CONSTRAINTS</a:t>
            </a:r>
          </a:p>
          <a:p>
            <a:pPr marL="880110" indent="-457200"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Arial" panose="020B0604020202020204" pitchFamily="34" charset="0"/>
              </a:rPr>
              <a:t> BUSINESS SUCCESS CRITERIA</a:t>
            </a:r>
            <a:endParaRPr lang="en-US" sz="2800" b="0" i="0" u="none" strike="noStrike" dirty="0"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880110" indent="-457200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2"/>
                </a:solidFill>
              </a:rPr>
              <a:t>PROJECT WORKFLOW</a:t>
            </a:r>
            <a:endParaRPr lang="en-US" sz="2800" b="0" i="0" u="none" strike="noStrike" dirty="0"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880110" indent="-457200"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Arial" panose="020B0604020202020204" pitchFamily="34" charset="0"/>
              </a:rPr>
              <a:t> </a:t>
            </a:r>
            <a:r>
              <a:rPr lang="en-US" sz="2800" b="0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PROJECT ARCHITECTURE</a:t>
            </a:r>
          </a:p>
          <a:p>
            <a:pPr marL="880110" indent="-457200"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Arial" panose="020B0604020202020204" pitchFamily="34" charset="0"/>
              </a:rPr>
              <a:t> DATA COLLECTION</a:t>
            </a:r>
            <a:endParaRPr lang="en-US" sz="2800" b="0" i="0" u="none" strike="noStrike" dirty="0"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880110" indent="-457200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 DATA PREPROCESSING</a:t>
            </a:r>
          </a:p>
          <a:p>
            <a:pPr marL="880110" indent="-457200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PROJECT CHALLENGES</a:t>
            </a:r>
          </a:p>
          <a:p>
            <a:pPr marL="880110" indent="-457200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CONCLUSION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03AE2F-BA7F-1298-A4E8-89619CB15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4087" y="5651032"/>
            <a:ext cx="2347911" cy="12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868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7F297-8DBD-B7F7-F024-43DD7BB94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E873BA-5138-2B28-A20F-71270046F86D}"/>
              </a:ext>
            </a:extLst>
          </p:cNvPr>
          <p:cNvSpPr txBox="1"/>
          <p:nvPr/>
        </p:nvSpPr>
        <p:spPr>
          <a:xfrm>
            <a:off x="75414" y="2271713"/>
            <a:ext cx="1211658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 leading global pallet manufacturing company faces inventory challenges due to inaccurate counting of stacked pallets in warehouses. Manual and semi-automated methods are inefficient, causing stock discrepancies, delays, and higher costs. Traditional scanning fails to track stacked pallets, impacting real-time visibility, order </a:t>
            </a:r>
            <a:r>
              <a:rPr lang="en-IN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fulfillment</a:t>
            </a:r>
            <a:r>
              <a:rPr lang="en-I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, and logistics. As operations grow, a precise and efficient inventory management solution is crucial.</a:t>
            </a:r>
            <a:endParaRPr lang="en-IN" sz="3600" dirty="0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17DBF-A8D6-2B4F-F79B-3050E08B6078}"/>
              </a:ext>
            </a:extLst>
          </p:cNvPr>
          <p:cNvSpPr txBox="1"/>
          <p:nvPr/>
        </p:nvSpPr>
        <p:spPr>
          <a:xfrm>
            <a:off x="-1" y="770759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ctr" rtl="0">
              <a:buFont typeface="Wingdings" panose="05000000000000000000" pitchFamily="2" charset="2"/>
              <a:buChar char="q"/>
            </a:pPr>
            <a:r>
              <a:rPr lang="en-IN" sz="4400" b="1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BUSINESS PROBLEM</a:t>
            </a:r>
            <a:endParaRPr lang="en-IN" sz="4400" b="1" dirty="0">
              <a:solidFill>
                <a:schemeClr val="bg2"/>
              </a:solidFill>
              <a:effectLst/>
            </a:endParaRP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1B30B6-2535-23A6-4B90-08F0A3BAB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9725" y="6134926"/>
            <a:ext cx="2962275" cy="72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15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D30C98-73F7-664D-86D9-2F9387876DB9}"/>
              </a:ext>
            </a:extLst>
          </p:cNvPr>
          <p:cNvSpPr txBox="1"/>
          <p:nvPr/>
        </p:nvSpPr>
        <p:spPr>
          <a:xfrm>
            <a:off x="985838" y="671512"/>
            <a:ext cx="1000125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4400" b="1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OBJECTIVE:</a:t>
            </a:r>
            <a:endParaRPr lang="en-US" sz="4400" b="1" dirty="0">
              <a:solidFill>
                <a:schemeClr val="bg2"/>
              </a:solidFill>
              <a:effectLst/>
            </a:endParaRPr>
          </a:p>
          <a:p>
            <a:pPr rtl="0"/>
            <a:br>
              <a:rPr lang="en-US" b="0" dirty="0">
                <a:solidFill>
                  <a:schemeClr val="bg2"/>
                </a:solidFill>
                <a:effectLst/>
              </a:rPr>
            </a:br>
            <a:r>
              <a:rPr lang="en-I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Minimize the latency of count and Maximize Precision accuracy.</a:t>
            </a:r>
            <a:endParaRPr lang="en-US" sz="3600" b="0" dirty="0">
              <a:solidFill>
                <a:schemeClr val="bg2"/>
              </a:solidFill>
              <a:effectLst/>
            </a:endParaRPr>
          </a:p>
          <a:p>
            <a:pPr rtl="0"/>
            <a:br>
              <a:rPr lang="en-US" b="0" dirty="0">
                <a:solidFill>
                  <a:schemeClr val="bg2"/>
                </a:solidFill>
                <a:effectLst/>
              </a:rPr>
            </a:br>
            <a:r>
              <a:rPr lang="en-US" sz="3200" b="0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rtl="0"/>
            <a:endParaRPr lang="en-US" sz="32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rtl="0"/>
            <a:r>
              <a:rPr lang="en-US" sz="4400" b="1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CONSTRAINT:</a:t>
            </a:r>
            <a:endParaRPr lang="en-US" sz="4400" b="1" dirty="0">
              <a:solidFill>
                <a:schemeClr val="bg2"/>
              </a:solidFill>
              <a:effectLst/>
            </a:endParaRPr>
          </a:p>
          <a:p>
            <a:pPr rtl="0"/>
            <a:br>
              <a:rPr lang="en-US" sz="2800" b="0" dirty="0">
                <a:solidFill>
                  <a:schemeClr val="bg2"/>
                </a:solidFill>
                <a:effectLst/>
              </a:rPr>
            </a:br>
            <a:r>
              <a:rPr lang="en-I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Minimize Processing Time</a:t>
            </a:r>
            <a:r>
              <a:rPr lang="en-IN" sz="3600" dirty="0"/>
              <a:t>.</a:t>
            </a:r>
            <a:br>
              <a:rPr lang="en-US" dirty="0">
                <a:solidFill>
                  <a:schemeClr val="bg2"/>
                </a:solidFill>
              </a:rPr>
            </a:br>
            <a:endParaRPr lang="en-IN" dirty="0">
              <a:solidFill>
                <a:schemeClr val="bg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011529-7E52-E677-03FF-373F79360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678567"/>
            <a:ext cx="1905000" cy="101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26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FFE4-5416-5654-A316-71EBECE0D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b="1" dirty="0">
                <a:latin typeface="+mj-lt"/>
              </a:rPr>
              <a:t>SUCCESS CRITERIA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FF6A73-1669-8F0F-F0B5-C1C8D6FD47CD}"/>
              </a:ext>
            </a:extLst>
          </p:cNvPr>
          <p:cNvSpPr txBox="1"/>
          <p:nvPr/>
        </p:nvSpPr>
        <p:spPr>
          <a:xfrm>
            <a:off x="614363" y="1585913"/>
            <a:ext cx="11415712" cy="417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Business Success Criteria: Achieve 25% reduction in overall warehouse operational costs, including </a:t>
            </a:r>
            <a:r>
              <a:rPr lang="en-IN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labor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and counting inefficiencies.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Machine Learning Success Criteria: Achieve at least 95% model accuracy with an inference time of ≤1 second per frame.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Economic Success Criteria: Achieve 30% reduction in operational costs, including </a:t>
            </a:r>
            <a:r>
              <a:rPr lang="en-IN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labor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and inventory loss.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DA68E-685C-464F-0326-707437788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4087" y="5651032"/>
            <a:ext cx="2347911" cy="12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362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>
            <a:spLocks noGrp="1"/>
          </p:cNvSpPr>
          <p:nvPr>
            <p:ph type="title"/>
          </p:nvPr>
        </p:nvSpPr>
        <p:spPr>
          <a:xfrm>
            <a:off x="194992" y="802310"/>
            <a:ext cx="10460100" cy="5521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There are six stages of CRISP-ML(Q) Methodology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1.Business and data understanding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2.Data preparation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3.model building 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4.Model evaluation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5.Model deployment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6.Monitoring and maintenance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433247-1064-150A-5219-EB571D69D336}"/>
              </a:ext>
            </a:extLst>
          </p:cNvPr>
          <p:cNvSpPr txBox="1"/>
          <p:nvPr/>
        </p:nvSpPr>
        <p:spPr>
          <a:xfrm>
            <a:off x="275303" y="117987"/>
            <a:ext cx="75708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CRISP-ML(Q) Methodology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0448DA-69C6-0247-54E1-AD06E1499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087" y="5651032"/>
            <a:ext cx="2347911" cy="12069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2036F-A507-6AB4-2E4F-43386B38D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CEE328-82BF-AC81-6ADC-6E27D0064C59}"/>
              </a:ext>
            </a:extLst>
          </p:cNvPr>
          <p:cNvSpPr txBox="1"/>
          <p:nvPr/>
        </p:nvSpPr>
        <p:spPr>
          <a:xfrm>
            <a:off x="985838" y="671512"/>
            <a:ext cx="1000125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2"/>
                </a:solidFill>
              </a:rPr>
              <a:t>PROJECT WORKFLOW</a:t>
            </a:r>
          </a:p>
          <a:p>
            <a:endParaRPr lang="en-US" sz="3600" b="1" dirty="0">
              <a:solidFill>
                <a:schemeClr val="bg2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3600" b="1" dirty="0">
                <a:solidFill>
                  <a:schemeClr val="bg2"/>
                </a:solidFill>
              </a:rPr>
              <a:t>IMAGE COLLECTION &amp; PREPROCESSING</a:t>
            </a:r>
            <a:endParaRPr lang="en-US" sz="3600" dirty="0">
              <a:solidFill>
                <a:schemeClr val="bg2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3600" b="1" dirty="0">
                <a:solidFill>
                  <a:schemeClr val="bg2"/>
                </a:solidFill>
              </a:rPr>
              <a:t>IMAGE ANNOTATION &amp; DATA     AUGMENTATION</a:t>
            </a:r>
            <a:endParaRPr lang="en-US" sz="3600" dirty="0">
              <a:solidFill>
                <a:schemeClr val="bg2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3600" b="1" dirty="0">
                <a:solidFill>
                  <a:schemeClr val="bg2"/>
                </a:solidFill>
              </a:rPr>
              <a:t>OBJECT DETECTION</a:t>
            </a:r>
          </a:p>
          <a:p>
            <a:pPr>
              <a:buFont typeface="+mj-lt"/>
              <a:buAutoNum type="arabicPeriod"/>
            </a:pPr>
            <a:r>
              <a:rPr lang="en-US" sz="3600" b="1" dirty="0">
                <a:solidFill>
                  <a:schemeClr val="bg2"/>
                </a:solidFill>
              </a:rPr>
              <a:t>MODEL BUILDING</a:t>
            </a:r>
          </a:p>
          <a:p>
            <a:pPr>
              <a:buFont typeface="+mj-lt"/>
              <a:buAutoNum type="arabicPeriod"/>
            </a:pPr>
            <a:r>
              <a:rPr lang="en-US" sz="3600" b="1" dirty="0">
                <a:solidFill>
                  <a:schemeClr val="bg2"/>
                </a:solidFill>
              </a:rPr>
              <a:t>MODEL DEPLOYMENT </a:t>
            </a:r>
            <a:endParaRPr lang="en-US" sz="3600" dirty="0">
              <a:solidFill>
                <a:schemeClr val="bg2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3600" b="1" dirty="0">
                <a:solidFill>
                  <a:schemeClr val="bg2"/>
                </a:solidFill>
              </a:rPr>
              <a:t>ANALYSIS &amp; MONITORING</a:t>
            </a:r>
            <a:endParaRPr lang="en-US" sz="3600" dirty="0">
              <a:solidFill>
                <a:schemeClr val="bg2"/>
              </a:solidFill>
            </a:endParaRPr>
          </a:p>
          <a:p>
            <a:pPr rtl="0"/>
            <a:br>
              <a:rPr lang="en-US" sz="3600" dirty="0">
                <a:solidFill>
                  <a:schemeClr val="bg2"/>
                </a:solidFill>
              </a:rPr>
            </a:br>
            <a:endParaRPr lang="en-IN" sz="3600" dirty="0">
              <a:solidFill>
                <a:schemeClr val="bg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6D0018-FBD8-2895-ACF1-C8F1C13FA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175" y="5757863"/>
            <a:ext cx="2757487" cy="99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24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387A55-E2BE-EB2D-2983-98C022FAB3AF}"/>
              </a:ext>
            </a:extLst>
          </p:cNvPr>
          <p:cNvSpPr txBox="1"/>
          <p:nvPr/>
        </p:nvSpPr>
        <p:spPr>
          <a:xfrm>
            <a:off x="883487" y="0"/>
            <a:ext cx="10038522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ARCHITECTURE-HIGH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00ADAF-30E3-9A08-E12C-1C67B0E26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9775" y="6264112"/>
            <a:ext cx="2562225" cy="5938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665BB3-3D26-F159-6A89-139880ECB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00087"/>
            <a:ext cx="12192000" cy="574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472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ABB60-D756-82B6-33F2-72C2D14F3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200" b="1" dirty="0"/>
              <a:t>IMAGE COLLECTION &amp; PREPROCESSING:</a:t>
            </a:r>
            <a:br>
              <a:rPr lang="en-IN" b="1" dirty="0"/>
            </a:br>
            <a:r>
              <a:rPr lang="en-IN" sz="2800" dirty="0"/>
              <a:t>COLLECTED 50 PALLET IMAGES &amp;</a:t>
            </a:r>
            <a:br>
              <a:rPr lang="en-IN" sz="2800" dirty="0"/>
            </a:br>
            <a:r>
              <a:rPr lang="en-IN" sz="2800" dirty="0"/>
              <a:t>150 PALLET IMAGE FROM THE CLIENT SIDE.</a:t>
            </a:r>
            <a:br>
              <a:rPr lang="en-IN" dirty="0"/>
            </a:br>
            <a:br>
              <a:rPr lang="en-IN" sz="3200" dirty="0"/>
            </a:br>
            <a:r>
              <a:rPr lang="en-IN" sz="3200" b="1" dirty="0"/>
              <a:t>ANNOTATION WITH ROBOFLOW:</a:t>
            </a:r>
            <a:br>
              <a:rPr lang="en-IN" dirty="0"/>
            </a:br>
            <a:r>
              <a:rPr lang="en-IN" sz="2800" dirty="0"/>
              <a:t>ANNOATED EACH STACK PALLET WITH BOUNDING BOX.  </a:t>
            </a:r>
            <a:br>
              <a:rPr lang="en-IN" dirty="0"/>
            </a:br>
            <a:br>
              <a:rPr lang="en-IN" b="1" dirty="0"/>
            </a:br>
            <a:r>
              <a:rPr lang="en-IN" sz="8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</a:t>
            </a:r>
            <a:endParaRPr lang="en-IN" sz="9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E75D81-DAD0-86F8-7C68-5F4A69A12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288" y="5815012"/>
            <a:ext cx="2905125" cy="9858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0588DD-4CF4-ABBF-C599-9FC5A8566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51" y="3957638"/>
            <a:ext cx="8544450" cy="264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59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254F2C-20DE-0CE8-7CEC-65AAF28579DC}"/>
              </a:ext>
            </a:extLst>
          </p:cNvPr>
          <p:cNvSpPr txBox="1"/>
          <p:nvPr/>
        </p:nvSpPr>
        <p:spPr>
          <a:xfrm>
            <a:off x="3046810" y="3275112"/>
            <a:ext cx="60936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6601D2-0A3D-B6AB-C52D-6A1EDB82126C}"/>
              </a:ext>
            </a:extLst>
          </p:cNvPr>
          <p:cNvSpPr txBox="1"/>
          <p:nvPr/>
        </p:nvSpPr>
        <p:spPr>
          <a:xfrm>
            <a:off x="3046810" y="3275112"/>
            <a:ext cx="60936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5F0465-F271-0767-40B4-EAC860E29E00}"/>
              </a:ext>
            </a:extLst>
          </p:cNvPr>
          <p:cNvSpPr txBox="1"/>
          <p:nvPr/>
        </p:nvSpPr>
        <p:spPr>
          <a:xfrm>
            <a:off x="1407320" y="1619637"/>
            <a:ext cx="46862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E597A-8C1E-A29E-25ED-81B4AED267A5}"/>
              </a:ext>
            </a:extLst>
          </p:cNvPr>
          <p:cNvSpPr txBox="1"/>
          <p:nvPr/>
        </p:nvSpPr>
        <p:spPr>
          <a:xfrm>
            <a:off x="0" y="0"/>
            <a:ext cx="121920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/>
              <a:t>DATA AUGMENTATION</a:t>
            </a:r>
          </a:p>
          <a:p>
            <a:r>
              <a:rPr lang="en-US" sz="2800" dirty="0"/>
              <a:t>       TECHNIQUES USED: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ROTATION, SCALING, FLIPPING.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BRIGHTNESS/CONTRAST ADJUSTMENT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ADDING NOISE, SHEAR TRANSFORMATION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EACH IMAGE AUGMENTED </a:t>
            </a:r>
            <a:r>
              <a:rPr lang="en-US" sz="2800" b="1" dirty="0"/>
              <a:t>3 TIMES</a:t>
            </a:r>
            <a:r>
              <a:rPr lang="en-US" sz="2800" dirty="0"/>
              <a:t> TO IMPROVE MODEL  PERFORMANCE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82939B-658E-FFBB-349D-35E02DD13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5463" y="6029324"/>
            <a:ext cx="2683668" cy="771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3F6C03-C2C9-A1AE-4FA6-3347E2023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9" y="3302324"/>
            <a:ext cx="12006262" cy="282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468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643D2-C77B-79BC-001B-E19338DF2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5D31C-456D-30D2-CFA4-40ABCA810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49838"/>
          </a:xfrm>
        </p:spPr>
        <p:txBody>
          <a:bodyPr/>
          <a:lstStyle/>
          <a:p>
            <a:r>
              <a:rPr lang="en-IN" sz="9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MODEL</a:t>
            </a:r>
            <a:r>
              <a:rPr lang="en-IN" dirty="0"/>
              <a:t> </a:t>
            </a:r>
            <a:r>
              <a:rPr lang="en-IN" sz="9600" dirty="0">
                <a:solidFill>
                  <a:srgbClr val="FFFF00"/>
                </a:solidFill>
              </a:rPr>
              <a:t>SELECTION</a:t>
            </a:r>
            <a:r>
              <a:rPr lang="en-IN" dirty="0">
                <a:solidFill>
                  <a:srgbClr val="FFFF00"/>
                </a:solidFill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DD1D26-5145-8FF9-67AA-B608A63AE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5463" y="6029324"/>
            <a:ext cx="2683668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276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E19ADC-EE98-69F4-920E-4E76F3C9D729}"/>
              </a:ext>
            </a:extLst>
          </p:cNvPr>
          <p:cNvSpPr txBox="1"/>
          <p:nvPr/>
        </p:nvSpPr>
        <p:spPr>
          <a:xfrm>
            <a:off x="0" y="0"/>
            <a:ext cx="10787063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WHY YOLO MODELS?</a:t>
            </a:r>
            <a:br>
              <a:rPr lang="en-IN" sz="4000" dirty="0"/>
            </a:br>
            <a:r>
              <a:rPr lang="en-IN" sz="4000" dirty="0"/>
              <a:t>✅ </a:t>
            </a:r>
            <a:r>
              <a:rPr lang="en-IN" sz="4000" b="1" dirty="0"/>
              <a:t>HIGH EFFICIENCY &amp; REAL</a:t>
            </a:r>
            <a:r>
              <a:rPr lang="en-IN" sz="3600" dirty="0"/>
              <a:t>-TIME PALLET DETECTION</a:t>
            </a:r>
            <a:br>
              <a:rPr lang="en-IN" sz="4000" dirty="0"/>
            </a:br>
            <a:r>
              <a:rPr lang="en-IN" sz="4000" dirty="0"/>
              <a:t>✅</a:t>
            </a:r>
            <a:r>
              <a:rPr lang="en-IN" sz="3600" dirty="0"/>
              <a:t> </a:t>
            </a:r>
            <a:r>
              <a:rPr lang="en-IN" sz="3600" b="1" dirty="0"/>
              <a:t>ROBUST FEATURE EXTRACTION FOR COMPLEX BACKGROUNDS</a:t>
            </a:r>
            <a:endParaRPr lang="en-IN" sz="3600" dirty="0"/>
          </a:p>
          <a:p>
            <a:pPr>
              <a:buNone/>
            </a:pPr>
            <a:r>
              <a:rPr lang="en-IN" sz="3600" b="1" dirty="0"/>
              <a:t>MODELS TRAINED &amp; RESULTS:</a:t>
            </a:r>
            <a:endParaRPr lang="en-IN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YOLOv5s</a:t>
            </a:r>
            <a:r>
              <a:rPr lang="en-IN" sz="3600" dirty="0"/>
              <a:t> (Epochs: 50) → mAP@0.5: </a:t>
            </a:r>
            <a:r>
              <a:rPr lang="en-IN" sz="3600" b="1" dirty="0"/>
              <a:t>84.2%</a:t>
            </a:r>
            <a:endParaRPr lang="en-IN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YOLOv7</a:t>
            </a:r>
            <a:r>
              <a:rPr lang="en-IN" sz="3600" dirty="0"/>
              <a:t> (Epochs: 75) → mAP@0.5: </a:t>
            </a:r>
            <a:r>
              <a:rPr lang="en-IN" sz="3600" b="1" dirty="0"/>
              <a:t>88.7%</a:t>
            </a:r>
            <a:endParaRPr lang="en-IN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YOLOv8n</a:t>
            </a:r>
            <a:r>
              <a:rPr lang="en-IN" sz="3600" dirty="0"/>
              <a:t> (Epochs: 100) → mAP@0.5: </a:t>
            </a:r>
            <a:r>
              <a:rPr lang="en-IN" sz="3600" b="1" dirty="0"/>
              <a:t>85.9%</a:t>
            </a:r>
            <a:endParaRPr lang="en-IN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YOLOv8l</a:t>
            </a:r>
            <a:r>
              <a:rPr lang="en-IN" sz="3600" dirty="0"/>
              <a:t> (Epochs: 100) → </a:t>
            </a:r>
            <a:r>
              <a:rPr lang="en-IN" sz="3600" b="1" dirty="0"/>
              <a:t>✅ Best Performance</a:t>
            </a:r>
            <a:r>
              <a:rPr lang="en-IN" sz="3600" dirty="0"/>
              <a:t> → mAP@0.5: </a:t>
            </a:r>
            <a:r>
              <a:rPr lang="en-IN" sz="3600" b="1" dirty="0"/>
              <a:t>91.3%</a:t>
            </a:r>
            <a:r>
              <a:rPr lang="en-IN" sz="3600" dirty="0"/>
              <a:t>, mAP@0.5:0.95: </a:t>
            </a:r>
            <a:r>
              <a:rPr lang="en-IN" sz="3600" b="1" dirty="0"/>
              <a:t>72.4%</a:t>
            </a:r>
            <a:endParaRPr lang="en-IN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C988FB-C933-0B7C-409C-B09338A8D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5463" y="6029324"/>
            <a:ext cx="2683668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700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B1104-93DD-0A0F-4812-580C168B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IN" sz="9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MODEL</a:t>
            </a:r>
            <a:r>
              <a:rPr lang="en-IN" dirty="0"/>
              <a:t> </a:t>
            </a:r>
            <a:r>
              <a:rPr lang="en-IN" sz="9600" dirty="0">
                <a:solidFill>
                  <a:srgbClr val="FFFF00"/>
                </a:solidFill>
              </a:rPr>
              <a:t>DEPLOYMENT</a:t>
            </a:r>
            <a:r>
              <a:rPr lang="en-IN" dirty="0">
                <a:solidFill>
                  <a:srgbClr val="FFFF00"/>
                </a:solidFill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15472-8A2A-BD84-853E-9501ABA2A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5463" y="6029324"/>
            <a:ext cx="2683668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48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2413F2-32C1-F67C-490F-72C5D6A2CA7E}"/>
              </a:ext>
            </a:extLst>
          </p:cNvPr>
          <p:cNvSpPr txBox="1"/>
          <p:nvPr/>
        </p:nvSpPr>
        <p:spPr>
          <a:xfrm>
            <a:off x="1373981" y="3871794"/>
            <a:ext cx="94440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2400" b="0" dirty="0">
                <a:effectLst/>
              </a:rPr>
            </a:b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5335A8-DADA-B906-C61C-91829F4990C6}"/>
              </a:ext>
            </a:extLst>
          </p:cNvPr>
          <p:cNvSpPr txBox="1"/>
          <p:nvPr/>
        </p:nvSpPr>
        <p:spPr>
          <a:xfrm>
            <a:off x="0" y="160021"/>
            <a:ext cx="121920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200" b="1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/>
              <a:t>DEPLOYMENT WITH STREAMLIT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WHY STREAMLIT?</a:t>
            </a:r>
            <a:endParaRPr lang="en-U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LIGHTWEIGHT &amp; INTERACTIVE WEB-BASED UI</a:t>
            </a:r>
          </a:p>
          <a:p>
            <a:pPr marL="457200" lvl="1"/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FEATURES IMPLEMENTED:</a:t>
            </a:r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UPLOAD IMAGES (JPG, PNG)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REAL-TIME OBJECT DETECTION &amp; POSE ESTIMATION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COMPLIANCE STATUS DISPLAY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F6D4C0-2A65-00CF-C97B-442F60F95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737" y="5846447"/>
            <a:ext cx="1497805" cy="101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2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1027B6-6A23-1980-5776-1CB187E0B30B}"/>
              </a:ext>
            </a:extLst>
          </p:cNvPr>
          <p:cNvSpPr txBox="1"/>
          <p:nvPr/>
        </p:nvSpPr>
        <p:spPr>
          <a:xfrm>
            <a:off x="-59055" y="1954531"/>
            <a:ext cx="1231011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/>
              <a:t>CONCLUSION</a:t>
            </a:r>
          </a:p>
          <a:p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SUCCESSFULLY IMPLEMENTED AI-POWERED COMPLIANCE MONITORING.</a:t>
            </a:r>
          </a:p>
          <a:p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AUTOMATED REAL-TIME SAFETY TRACKING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DEPLOYMENT ENABLES EASY WORKPLACE MONITORING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533315-B422-D378-7FD5-8E118DCEE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1" y="6081712"/>
            <a:ext cx="3148012" cy="77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142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122A86-AFF6-BE19-C34B-DBF50149540C}"/>
              </a:ext>
            </a:extLst>
          </p:cNvPr>
          <p:cNvSpPr txBox="1"/>
          <p:nvPr/>
        </p:nvSpPr>
        <p:spPr>
          <a:xfrm>
            <a:off x="788193" y="1472327"/>
            <a:ext cx="1061561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IN" sz="9600" b="0" i="0" u="none" strike="noStrike" dirty="0">
                <a:solidFill>
                  <a:srgbClr val="008EC2"/>
                </a:solidFill>
                <a:effectLst/>
                <a:latin typeface="Arial" panose="020B0604020202020204" pitchFamily="34" charset="0"/>
              </a:rPr>
              <a:t>PROJECT</a:t>
            </a:r>
            <a:endParaRPr lang="en-IN" b="0" dirty="0">
              <a:effectLst/>
            </a:endParaRPr>
          </a:p>
          <a:p>
            <a:pPr rtl="0"/>
            <a:br>
              <a:rPr lang="en-IN" b="0" dirty="0">
                <a:effectLst/>
              </a:rPr>
            </a:br>
            <a:r>
              <a:rPr lang="en-IN" sz="9600" b="0" i="0" u="none" strike="noStrike" dirty="0">
                <a:solidFill>
                  <a:srgbClr val="FEA002"/>
                </a:solidFill>
                <a:effectLst/>
                <a:latin typeface="Arial" panose="020B0604020202020204" pitchFamily="34" charset="0"/>
              </a:rPr>
              <a:t>CHALLENGES</a:t>
            </a:r>
            <a:endParaRPr lang="en-IN" b="0" dirty="0">
              <a:effectLst/>
            </a:endParaRP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E7753E-F5DD-65B2-023E-186B0F6B0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8350" y="5794296"/>
            <a:ext cx="2533650" cy="106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315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A0279-F826-E4A7-A2FC-7035458A9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>
            <a:normAutofit/>
          </a:bodyPr>
          <a:lstStyle/>
          <a:p>
            <a:r>
              <a:rPr lang="en-US" sz="3200" b="1" dirty="0"/>
              <a:t>1. DATA COLLECTION CHALLENGES</a:t>
            </a:r>
            <a:br>
              <a:rPr lang="en-US" b="1" dirty="0"/>
            </a:br>
            <a:r>
              <a:rPr lang="en-US" sz="2800" b="1" dirty="0"/>
              <a:t>LIMITED DATASET:</a:t>
            </a:r>
            <a:r>
              <a:rPr lang="en-US" sz="2800" dirty="0"/>
              <a:t> COLLECTING ENOUGH HIGH-QUALITY STACK PALLETS IMAGES CAN BE DIFFICULT.</a:t>
            </a:r>
            <a:br>
              <a:rPr lang="en-US" sz="2800" dirty="0"/>
            </a:br>
            <a:br>
              <a:rPr lang="en-US" dirty="0"/>
            </a:br>
            <a:r>
              <a:rPr lang="en-US" sz="2800" b="1" dirty="0"/>
              <a:t>DIVERSITY OF WORK ENVIRONMENTS:</a:t>
            </a:r>
            <a:r>
              <a:rPr lang="en-US" sz="2800" dirty="0"/>
              <a:t> DIFFERENT WORKPLACES HAVE VARYING LIGHTING CONDITIONS, ANGLES, AND SAFETY PROTOCOLS.</a:t>
            </a:r>
            <a:br>
              <a:rPr lang="en-US" sz="2800" dirty="0"/>
            </a:br>
            <a:br>
              <a:rPr lang="en-US" sz="2800" dirty="0"/>
            </a:br>
            <a:r>
              <a:rPr lang="en-US" sz="2800" b="1" dirty="0"/>
              <a:t>VIDEO FRAME EXTRACTION ISSUES:</a:t>
            </a:r>
            <a:r>
              <a:rPr lang="en-US" sz="2800" dirty="0"/>
              <a:t> EXTRACTING MEANINGFUL FRAMES FROM VIDEOS WHILE AVOIDING REDUNDANCY OR BLURRINESS.</a:t>
            </a:r>
            <a:br>
              <a:rPr lang="en-US" sz="2800" dirty="0"/>
            </a:b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9F1A3C-51CD-F199-5383-0EAAF6A3B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5767385"/>
            <a:ext cx="2362200" cy="109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742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E3F03-AA06-FD36-62F0-6A15DB580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5922553"/>
          </a:xfrm>
        </p:spPr>
        <p:txBody>
          <a:bodyPr>
            <a:normAutofit/>
          </a:bodyPr>
          <a:lstStyle/>
          <a:p>
            <a:r>
              <a:rPr lang="en-US" sz="3600" b="1" dirty="0"/>
              <a:t>2. ANNOTATION AND LABELING CHALLENGES</a:t>
            </a:r>
            <a:br>
              <a:rPr lang="en-US" b="1" dirty="0"/>
            </a:br>
            <a:r>
              <a:rPr lang="en-US" sz="2800" b="1" dirty="0"/>
              <a:t>MANUAL EFFORT:</a:t>
            </a:r>
            <a:r>
              <a:rPr lang="en-US" sz="2800" dirty="0"/>
              <a:t> ANNOTATING IMAGES IN </a:t>
            </a:r>
            <a:r>
              <a:rPr lang="en-US" sz="2800" b="1" dirty="0"/>
              <a:t>ROBOFLOW</a:t>
            </a:r>
            <a:r>
              <a:rPr lang="en-US" sz="2800" dirty="0"/>
              <a:t> IS TIME-CONSUMING.</a:t>
            </a:r>
            <a:br>
              <a:rPr lang="en-US" dirty="0"/>
            </a:br>
            <a:br>
              <a:rPr lang="en-US" dirty="0"/>
            </a:br>
            <a:r>
              <a:rPr lang="en-US" sz="3600" b="1" dirty="0"/>
              <a:t>CLASS IMBALANCE:</a:t>
            </a:r>
            <a:r>
              <a:rPr lang="en-US" sz="3600" dirty="0"/>
              <a:t> </a:t>
            </a:r>
            <a:br>
              <a:rPr lang="en-US" sz="3600" dirty="0"/>
            </a:br>
            <a:r>
              <a:rPr lang="en-US" sz="2800" dirty="0"/>
              <a:t>SOME SAFETY GEAR ITEMS (E.G., GLOVES, GOGGLES) MIGHT APPEAR LESS FREQUENTLY, LEADING TO BIASED MODEL PERFORMANCE.</a:t>
            </a:r>
            <a:br>
              <a:rPr lang="en-US" dirty="0"/>
            </a:br>
            <a:br>
              <a:rPr lang="en-US" dirty="0"/>
            </a:br>
            <a:r>
              <a:rPr lang="en-US" sz="3600" b="1" dirty="0"/>
              <a:t>COMPLEX SCENES:</a:t>
            </a:r>
            <a:br>
              <a:rPr lang="en-US" b="1" dirty="0"/>
            </a:br>
            <a:r>
              <a:rPr lang="en-US" sz="2800" dirty="0"/>
              <a:t>MULTIPLE WORKERS AND OVERLAPPING OBJECTS CAN MAKE ANNOTATION DIFFICULT</a:t>
            </a:r>
            <a:br>
              <a:rPr lang="en-US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106E0E-3B1A-75C6-FEE1-9B4CD5A66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629274"/>
            <a:ext cx="2905125" cy="102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632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6C83-B2F0-0479-0502-42CC68474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4841" y="365125"/>
            <a:ext cx="12276841" cy="6492875"/>
          </a:xfrm>
        </p:spPr>
        <p:txBody>
          <a:bodyPr>
            <a:normAutofit/>
          </a:bodyPr>
          <a:lstStyle/>
          <a:p>
            <a:r>
              <a:rPr lang="en-IN" sz="3200" dirty="0"/>
              <a:t>3.</a:t>
            </a:r>
            <a:r>
              <a:rPr lang="en-US" sz="1200" b="1" dirty="0"/>
              <a:t> </a:t>
            </a:r>
            <a:r>
              <a:rPr lang="en-US" sz="3200" b="1" dirty="0"/>
              <a:t>MODEL TRAINING CHALLENGES</a:t>
            </a:r>
            <a:br>
              <a:rPr lang="en-US" sz="1200" dirty="0"/>
            </a:br>
            <a:r>
              <a:rPr lang="en-US" sz="2800" b="1" dirty="0"/>
              <a:t>COMPUTATIONAL REQUIREMENTS:</a:t>
            </a:r>
            <a:r>
              <a:rPr lang="en-US" sz="2800" dirty="0"/>
              <a:t> Training pallet detection models like YOLOv7 requires high GPU resources, increasing infrastructure costs and deployment time.</a:t>
            </a:r>
            <a:br>
              <a:rPr lang="en-US" sz="3100" dirty="0"/>
            </a:br>
            <a:br>
              <a:rPr lang="en-US" dirty="0"/>
            </a:br>
            <a:r>
              <a:rPr lang="en-US" sz="3200" b="1" dirty="0"/>
              <a:t>HYPERPARAMETER TUNING:</a:t>
            </a:r>
            <a:r>
              <a:rPr lang="en-US" sz="3200" dirty="0"/>
              <a:t> </a:t>
            </a:r>
            <a:r>
              <a:rPr lang="en-US" sz="2800" dirty="0"/>
              <a:t>FINDING THE BEST </a:t>
            </a:r>
            <a:r>
              <a:rPr lang="en-US" sz="2800" b="1" dirty="0"/>
              <a:t>LEARNING RATE, BATCH SIZE, AND EPOCH COUNT</a:t>
            </a:r>
            <a:r>
              <a:rPr lang="en-US" sz="2800" dirty="0"/>
              <a:t> FOR OPTIMAL PERFORMANCE.</a:t>
            </a:r>
            <a:br>
              <a:rPr lang="en-US" sz="2800" dirty="0"/>
            </a:br>
            <a:br>
              <a:rPr lang="en-US" dirty="0"/>
            </a:br>
            <a:r>
              <a:rPr lang="en-US" sz="3200" b="1" dirty="0"/>
              <a:t>FALSE POSITIVES &amp; FALSE NEGATIVES:</a:t>
            </a:r>
            <a:r>
              <a:rPr lang="en-US" sz="3200" dirty="0"/>
              <a:t> </a:t>
            </a:r>
            <a:r>
              <a:rPr lang="en-US" sz="2400" dirty="0">
                <a:latin typeface="+mj-lt"/>
              </a:rPr>
              <a:t>MODEL MIGHT DETECT PALLETS INCORRECTLY, LEADING TO INACCURATE INVENTORY COUNTS AND AFFECTING STOCK VISIBILITY AND LOGISTICS DECISIONS.</a:t>
            </a:r>
            <a:br>
              <a:rPr lang="en-US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6799F-77FC-03B1-076D-8992BDD2C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5886450"/>
            <a:ext cx="276225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74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10A7-2BA6-9C81-4DFE-40566B033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96134" cy="5545481"/>
          </a:xfrm>
        </p:spPr>
        <p:txBody>
          <a:bodyPr>
            <a:normAutofit/>
          </a:bodyPr>
          <a:lstStyle/>
          <a:p>
            <a:r>
              <a:rPr lang="en-US" sz="3600" b="1" dirty="0"/>
              <a:t>5. DEPLOYMENT CHALLENGES (STREAMLIT)</a:t>
            </a:r>
            <a:br>
              <a:rPr lang="en-US" b="1" dirty="0"/>
            </a:br>
            <a:r>
              <a:rPr lang="en-US" sz="3600" b="1" dirty="0"/>
              <a:t>LATENCY ISSUES:</a:t>
            </a:r>
            <a:r>
              <a:rPr lang="en-US" sz="3600" dirty="0"/>
              <a:t> </a:t>
            </a:r>
            <a:r>
              <a:rPr lang="en-US" sz="3100" dirty="0"/>
              <a:t>REAL-TIME OBJECT DETECTION MAY SLOW DOWN DUE TO LARGE IMAGE SIZES.</a:t>
            </a:r>
            <a:br>
              <a:rPr lang="en-US" sz="3100" dirty="0"/>
            </a:br>
            <a:br>
              <a:rPr lang="en-US" sz="3100" dirty="0"/>
            </a:br>
            <a:r>
              <a:rPr lang="en-US" sz="3600" b="1" dirty="0"/>
              <a:t>USER-FRIENDLY INTERFACE:</a:t>
            </a:r>
            <a:r>
              <a:rPr lang="en-US" sz="3600" dirty="0"/>
              <a:t> </a:t>
            </a:r>
            <a:r>
              <a:rPr lang="en-US" sz="3100" dirty="0"/>
              <a:t>ENSURING A SIMPLE AND INTERACTIVE UI FOR NON-TECHNICAL USERS.</a:t>
            </a:r>
            <a:br>
              <a:rPr lang="en-US" sz="3100" dirty="0"/>
            </a:br>
            <a:br>
              <a:rPr lang="en-US" dirty="0"/>
            </a:br>
            <a:r>
              <a:rPr lang="en-US" sz="3600" b="1" dirty="0"/>
              <a:t>INTEGRATION WITH EXISTING SYSTEMS:</a:t>
            </a:r>
            <a:br>
              <a:rPr lang="en-US" sz="3600" b="1" dirty="0"/>
            </a:br>
            <a:r>
              <a:rPr lang="en-US" sz="3100" dirty="0"/>
              <a:t> MANY COMPANIES HAVE LEGACY SAFETY MONITORING SYSTEMS THAT NEED SEAMLESS INTEGRATION.</a:t>
            </a:r>
            <a:br>
              <a:rPr lang="en-US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A73FF1-2674-61C8-0A01-C673BC70B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910606"/>
            <a:ext cx="1905000" cy="94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400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05500-FE9A-84B4-A0C9-6FE58A35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1548" cy="5319238"/>
          </a:xfrm>
        </p:spPr>
        <p:txBody>
          <a:bodyPr>
            <a:normAutofit/>
          </a:bodyPr>
          <a:lstStyle/>
          <a:p>
            <a:r>
              <a:rPr lang="en-US" sz="3600" b="1" dirty="0"/>
              <a:t>6. BUSINESS &amp; ECONOMIC CHALLENGES</a:t>
            </a:r>
            <a:br>
              <a:rPr lang="en-US" b="1" dirty="0"/>
            </a:br>
            <a:r>
              <a:rPr lang="en-US" sz="3600" b="1" dirty="0"/>
              <a:t>ADOPTION RESISTANCE:</a:t>
            </a:r>
            <a:r>
              <a:rPr lang="en-US" sz="3600" dirty="0"/>
              <a:t> </a:t>
            </a:r>
            <a:r>
              <a:rPr lang="en-US" sz="3100" dirty="0"/>
              <a:t>EMPLOYEES MAY RESIST AI-BASED MONITORING DUE TO PRIVACY CONCERNS.</a:t>
            </a:r>
            <a:br>
              <a:rPr lang="en-US" sz="3100" dirty="0"/>
            </a:br>
            <a:br>
              <a:rPr lang="en-US" dirty="0"/>
            </a:br>
            <a:r>
              <a:rPr lang="en-US" sz="3600" b="1" dirty="0"/>
              <a:t>COST CONSTRAINTS:</a:t>
            </a:r>
            <a:r>
              <a:rPr lang="en-US" sz="3600" dirty="0"/>
              <a:t> </a:t>
            </a:r>
            <a:r>
              <a:rPr lang="en-US" sz="3100" dirty="0"/>
              <a:t>BALANCING MODEL ACCURACY WHILE KEEPING DEPLOYMENT AND MAINTENANCE COSTS LOW.</a:t>
            </a:r>
            <a:br>
              <a:rPr lang="en-US" sz="3100" dirty="0"/>
            </a:br>
            <a:br>
              <a:rPr lang="en-US" sz="3600" dirty="0"/>
            </a:br>
            <a:r>
              <a:rPr lang="en-US" sz="3600" b="1" dirty="0"/>
              <a:t>REGULATORY COMPLIANCE:</a:t>
            </a:r>
            <a:r>
              <a:rPr lang="en-US" sz="3600" dirty="0"/>
              <a:t> </a:t>
            </a:r>
            <a:r>
              <a:rPr lang="en-US" sz="3100" dirty="0"/>
              <a:t>ENSURING THAT AI MONITORING ADHERES TO WORKPLACE SAFETY REGULATIONS AND LABOR LAWS.</a:t>
            </a:r>
            <a:br>
              <a:rPr lang="en-US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0FBEB6-48F4-8CC6-DCD0-5C6B56966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886449"/>
            <a:ext cx="190500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571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6E1A6-D4C5-05B9-F28C-4308DA1F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b="1" dirty="0">
                <a:latin typeface="+mj-lt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23FB4-C908-3852-C11C-E961BD5A6079}"/>
              </a:ext>
            </a:extLst>
          </p:cNvPr>
          <p:cNvSpPr txBox="1"/>
          <p:nvPr/>
        </p:nvSpPr>
        <p:spPr>
          <a:xfrm>
            <a:off x="838200" y="1585913"/>
            <a:ext cx="1066323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3200" dirty="0"/>
              <a:t>AI-driven pallet detection ensures real-time inventory precision.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3200" dirty="0"/>
              <a:t>Results in significant cost savings and operational efficiency.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3200" dirty="0"/>
              <a:t>Scalable and adaptable for future warehouse expansion.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7A5B4D-69AF-978A-064C-8F44A6C71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886449"/>
            <a:ext cx="190500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379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0" name="Google Shape;490;p60"/>
          <p:cNvCxnSpPr/>
          <p:nvPr/>
        </p:nvCxnSpPr>
        <p:spPr>
          <a:xfrm>
            <a:off x="0" y="6464596"/>
            <a:ext cx="9597656" cy="0"/>
          </a:xfrm>
          <a:prstGeom prst="straightConnector1">
            <a:avLst/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91" name="Google Shape;491;p60" descr="Attitudes 2 Animal Cognition Survey – The Anthrozoologis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00533"/>
            <a:ext cx="12192000" cy="41827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935FF8-7D89-8568-93FF-F4AAEC99501B}"/>
              </a:ext>
            </a:extLst>
          </p:cNvPr>
          <p:cNvSpPr txBox="1"/>
          <p:nvPr/>
        </p:nvSpPr>
        <p:spPr>
          <a:xfrm>
            <a:off x="-1" y="4167567"/>
            <a:ext cx="119077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IF YOU HAVE ANY QUESTIONS OR NEED FURTHER CLARIFICATION, FEEL FREE TO ASK.</a:t>
            </a:r>
          </a:p>
          <a:p>
            <a:endParaRPr lang="en-US" sz="2400" b="1" dirty="0"/>
          </a:p>
          <a:p>
            <a:pPr algn="l"/>
            <a:r>
              <a:rPr lang="en-US" sz="2400" b="1" dirty="0"/>
              <a:t>PROJECT LEAD:</a:t>
            </a:r>
            <a:r>
              <a:rPr lang="en-US" sz="2400" b="1" dirty="0">
                <a:latin typeface="+mn-lt"/>
              </a:rPr>
              <a:t> </a:t>
            </a:r>
            <a:r>
              <a:rPr lang="en-IN" sz="2400" b="1" i="0" u="none" strike="noStrike" baseline="0" dirty="0">
                <a:solidFill>
                  <a:srgbClr val="000000"/>
                </a:solidFill>
                <a:latin typeface="+mn-lt"/>
              </a:rPr>
              <a:t>Kunal G. Borase</a:t>
            </a:r>
            <a:endParaRPr lang="en-US" sz="2400" b="1" dirty="0">
              <a:latin typeface="+mn-lt"/>
            </a:endParaRPr>
          </a:p>
          <a:p>
            <a:endParaRPr lang="en-US" sz="2400" b="1" dirty="0"/>
          </a:p>
          <a:p>
            <a:r>
              <a:rPr lang="en-US" sz="2400" b="1" dirty="0"/>
              <a:t>PRESENTED </a:t>
            </a:r>
            <a:r>
              <a:rPr lang="en-US" sz="2400" b="1" dirty="0" err="1"/>
              <a:t>BY:Mandeep</a:t>
            </a:r>
            <a:r>
              <a:rPr lang="en-US" sz="2400" b="1" dirty="0"/>
              <a:t> Singh Thakur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8C4BCC-6461-7FEE-1187-AFF7394F6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7656" y="5237735"/>
            <a:ext cx="2475282" cy="14197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528</TotalTime>
  <Words>883</Words>
  <Application>Microsoft Office PowerPoint</Application>
  <PresentationFormat>Widescreen</PresentationFormat>
  <Paragraphs>121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Times New Roman</vt:lpstr>
      <vt:lpstr>Arial</vt:lpstr>
      <vt:lpstr>Georgia</vt:lpstr>
      <vt:lpstr>Calibri</vt:lpstr>
      <vt:lpstr>Wingdings</vt:lpstr>
      <vt:lpstr>Office Theme</vt:lpstr>
      <vt:lpstr>PowerPoint Presentation</vt:lpstr>
      <vt:lpstr>Team Members</vt:lpstr>
      <vt:lpstr>PowerPoint Presentation</vt:lpstr>
      <vt:lpstr>PowerPoint Presentation</vt:lpstr>
      <vt:lpstr>PowerPoint Presentation</vt:lpstr>
      <vt:lpstr>SUCCESS CRITERIA</vt:lpstr>
      <vt:lpstr> There are six stages of CRISP-ML(Q) Methodology  1.Business and data understanding  2.Data preparation  3.model building   4.Model evaluation  5.Model deployment  6.Monitoring and maintenance</vt:lpstr>
      <vt:lpstr>PowerPoint Presentation</vt:lpstr>
      <vt:lpstr>PowerPoint Presentation</vt:lpstr>
      <vt:lpstr>IMAGE COLLECTION &amp; PREPROCESSING: COLLECTED 50 PALLET IMAGES &amp; 150 PALLET IMAGE FROM THE CLIENT SIDE.  ANNOTATION WITH ROBOFLOW: ANNOATED EACH STACK PALLET WITH BOUNDING BOX.            </vt:lpstr>
      <vt:lpstr>PowerPoint Presentation</vt:lpstr>
      <vt:lpstr>MODEL SELECTION </vt:lpstr>
      <vt:lpstr>PowerPoint Presentation</vt:lpstr>
      <vt:lpstr>MODEL DEPLOYMENT </vt:lpstr>
      <vt:lpstr>PowerPoint Presentation</vt:lpstr>
      <vt:lpstr>PowerPoint Presentation</vt:lpstr>
      <vt:lpstr>PowerPoint Presentation</vt:lpstr>
      <vt:lpstr>1. DATA COLLECTION CHALLENGES LIMITED DATASET: COLLECTING ENOUGH HIGH-QUALITY STACK PALLETS IMAGES CAN BE DIFFICULT.  DIVERSITY OF WORK ENVIRONMENTS: DIFFERENT WORKPLACES HAVE VARYING LIGHTING CONDITIONS, ANGLES, AND SAFETY PROTOCOLS.  VIDEO FRAME EXTRACTION ISSUES: EXTRACTING MEANINGFUL FRAMES FROM VIDEOS WHILE AVOIDING REDUNDANCY OR BLURRINESS. </vt:lpstr>
      <vt:lpstr>2. ANNOTATION AND LABELING CHALLENGES MANUAL EFFORT: ANNOTATING IMAGES IN ROBOFLOW IS TIME-CONSUMING.  CLASS IMBALANCE:  SOME SAFETY GEAR ITEMS (E.G., GLOVES, GOGGLES) MIGHT APPEAR LESS FREQUENTLY, LEADING TO BIASED MODEL PERFORMANCE.  COMPLEX SCENES: MULTIPLE WORKERS AND OVERLAPPING OBJECTS CAN MAKE ANNOTATION DIFFICULT </vt:lpstr>
      <vt:lpstr>3. MODEL TRAINING CHALLENGES COMPUTATIONAL REQUIREMENTS: Training pallet detection models like YOLOv7 requires high GPU resources, increasing infrastructure costs and deployment time.  HYPERPARAMETER TUNING: FINDING THE BEST LEARNING RATE, BATCH SIZE, AND EPOCH COUNT FOR OPTIMAL PERFORMANCE.  FALSE POSITIVES &amp; FALSE NEGATIVES: MODEL MIGHT DETECT PALLETS INCORRECTLY, LEADING TO INACCURATE INVENTORY COUNTS AND AFFECTING STOCK VISIBILITY AND LOGISTICS DECISIONS. </vt:lpstr>
      <vt:lpstr>5. DEPLOYMENT CHALLENGES (STREAMLIT) LATENCY ISSUES: REAL-TIME OBJECT DETECTION MAY SLOW DOWN DUE TO LARGE IMAGE SIZES.  USER-FRIENDLY INTERFACE: ENSURING A SIMPLE AND INTERACTIVE UI FOR NON-TECHNICAL USERS.  INTEGRATION WITH EXISTING SYSTEMS:  MANY COMPANIES HAVE LEGACY SAFETY MONITORING SYSTEMS THAT NEED SEAMLESS INTEGRATION. </vt:lpstr>
      <vt:lpstr>6. BUSINESS &amp; ECONOMIC CHALLENGES ADOPTION RESISTANCE: EMPLOYEES MAY RESIST AI-BASED MONITORING DUE TO PRIVACY CONCERNS.  COST CONSTRAINTS: BALANCING MODEL ACCURACY WHILE KEEPING DEPLOYMENT AND MAINTENANCE COSTS LOW.  REGULATORY COMPLIANCE: ENSURING THAT AI MONITORING ADHERES TO WORKPLACE SAFETY REGULATIONS AND LABOR LAWS.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VIKAS BARTHWAL</dc:creator>
  <cp:lastModifiedBy>Thakur, Mandeep Singh</cp:lastModifiedBy>
  <cp:revision>82</cp:revision>
  <dcterms:created xsi:type="dcterms:W3CDTF">2022-02-16T01:47:29Z</dcterms:created>
  <dcterms:modified xsi:type="dcterms:W3CDTF">2025-05-07T04:30:38Z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49deba9595b64033890e84905b5c3bc0</vt:lpwstr>
  </property>
</Properties>
</file>